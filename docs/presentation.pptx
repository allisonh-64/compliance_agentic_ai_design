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213D"/>
              </a:gs>
              <a:gs pos="100000">
                <a:srgbClr val="0F1A30"/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67005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D9A9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COMPLIANCE AGENTIC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2155190"/>
            <a:ext cx="1046480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Vendor Due-Diligence Gate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3902710"/>
            <a:ext cx="85026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deterministic compliance engine that gates vendor spend before the money moves — explainable, auditable, and human-accountable.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5975" y="4764405"/>
            <a:ext cx="1963102" cy="42037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080" y="4867910"/>
            <a:ext cx="1603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compliance controls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37827" y="4764405"/>
            <a:ext cx="1396682" cy="42037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2932" y="4867910"/>
            <a:ext cx="1037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93260" y="4764405"/>
            <a:ext cx="2343388" cy="42037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8365" y="4867910"/>
            <a:ext cx="19911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Deploys unchanged to AWS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0"/>
            <a:ext cx="9810750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Vendor spend gets approved by habit and memory — not by policy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202815"/>
            <a:ext cx="5200650" cy="1482090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4333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738120"/>
            <a:ext cx="48818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on-file sign-off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6480" y="3027680"/>
            <a:ext cx="488182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Invoices above the approval threshold go out because nobody is tracking thresholds transaction-by-transaction.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5375" y="2202815"/>
            <a:ext cx="5200650" cy="1482090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9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5880" y="24333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5880" y="2738120"/>
            <a:ext cx="48818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Screening gets skipped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5880" y="3027680"/>
            <a:ext cx="488182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new vendor gets paid before anyone checks a sanctions list — screening is a step someone has to remember.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843655"/>
            <a:ext cx="5200650" cy="1482090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3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6480" y="40741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6480" y="4378960"/>
            <a:ext cx="48818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Unverified bank changes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46480" y="4668520"/>
            <a:ext cx="488182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vendor "updates" payment details by email and it's applied unconfirmed — the classic business-email-compromise fraud vector.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5375" y="3843655"/>
            <a:ext cx="5200650" cy="1482090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7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5880" y="407416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5880" y="4378960"/>
            <a:ext cx="48818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Conflicts surface too late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5880" y="4668520"/>
            <a:ext cx="488182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undisclosed relationship between requestor and vendor only comes out after the money has already moved.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2800" y="6256020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9810750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deterministic gate stands between a transaction and the money moving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304416"/>
            <a:ext cx="2273300" cy="191389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5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534920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865120"/>
            <a:ext cx="18666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46480" y="3169920"/>
            <a:ext cx="1866659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transaction is checked against a versioned, cited rule catalog.</a:t>
            </a:r>
            <a:endParaRPr lang="en-US" sz="115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94050" y="3178811"/>
            <a:ext cx="279400" cy="1651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78225" y="2406650"/>
            <a:ext cx="2273300" cy="1709420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0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08730" y="2637155"/>
            <a:ext cx="254000" cy="254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08730" y="2967355"/>
            <a:ext cx="18666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808730" y="3272155"/>
            <a:ext cx="1866659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 decision: approved, blocked, needs evidence, or needs a human.</a:t>
            </a:r>
            <a:endParaRPr lang="en-US" sz="1150" dirty="0"/>
          </a:p>
        </p:txBody>
      </p:sp>
      <p:pic>
        <p:nvPicPr>
          <p:cNvPr id="1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56300" y="3178811"/>
            <a:ext cx="279400" cy="1651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40475" y="2406650"/>
            <a:ext cx="2273300" cy="1709420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5" name="Image 4" descr="User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70980" y="2637155"/>
            <a:ext cx="254000" cy="254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70980" y="2967355"/>
            <a:ext cx="18666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570980" y="3272155"/>
            <a:ext cx="1866659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Procurement, Legal, or Finance is notified automatically, by risk.</a:t>
            </a:r>
            <a:endParaRPr lang="en-US" sz="1150" dirty="0"/>
          </a:p>
        </p:txBody>
      </p:sp>
      <p:pic>
        <p:nvPicPr>
          <p:cNvPr id="18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18550" y="3178811"/>
            <a:ext cx="279400" cy="1651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102725" y="2406650"/>
            <a:ext cx="2273300" cy="1709420"/>
          </a:xfrm>
          <a:prstGeom prst="roundRect">
            <a:avLst>
              <a:gd name="adj" fmla="val 575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20" name="Image 6" descr="Lo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333230" y="2637155"/>
            <a:ext cx="254000" cy="2540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333230" y="2967355"/>
            <a:ext cx="18666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9333230" y="3272155"/>
            <a:ext cx="1866659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append-only audit trail: what was decided, by what rule, and why.</a:t>
            </a:r>
            <a:endParaRPr lang="en-US" sz="1150" dirty="0"/>
          </a:p>
        </p:txBody>
      </p:sp>
      <p:sp>
        <p:nvSpPr>
          <p:cNvPr id="23" name="Shape 14"/>
          <p:cNvSpPr/>
          <p:nvPr/>
        </p:nvSpPr>
        <p:spPr>
          <a:xfrm>
            <a:off x="812800" y="4577080"/>
            <a:ext cx="1264285" cy="37338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4" name="Text 15"/>
          <p:cNvSpPr/>
          <p:nvPr/>
        </p:nvSpPr>
        <p:spPr>
          <a:xfrm>
            <a:off x="990600" y="4665980"/>
            <a:ext cx="95948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4C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Evidence-first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2204085" y="4577080"/>
            <a:ext cx="1786652" cy="37338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6" name="Text 17"/>
          <p:cNvSpPr/>
          <p:nvPr/>
        </p:nvSpPr>
        <p:spPr>
          <a:xfrm>
            <a:off x="2381885" y="4665980"/>
            <a:ext cx="148185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4C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Explainable outcomes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4117737" y="4577080"/>
            <a:ext cx="1576229" cy="37338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8" name="Text 19"/>
          <p:cNvSpPr/>
          <p:nvPr/>
        </p:nvSpPr>
        <p:spPr>
          <a:xfrm>
            <a:off x="4295537" y="4665980"/>
            <a:ext cx="127142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4C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Risk-based routing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5820966" y="4577080"/>
            <a:ext cx="1391444" cy="37338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30" name="Text 21"/>
          <p:cNvSpPr/>
          <p:nvPr/>
        </p:nvSpPr>
        <p:spPr>
          <a:xfrm>
            <a:off x="5998766" y="4665980"/>
            <a:ext cx="108664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C4C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by default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812800" y="6256020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Eight controls, one gate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24660"/>
          <a:ext cx="10556240" cy="3691890"/>
        </p:xfrm>
        <a:graphic>
          <a:graphicData uri="http://schemas.openxmlformats.org/drawingml/2006/table">
            <a:tbl>
              <a:tblPr/>
              <a:tblGrid>
                <a:gridCol w="3589122"/>
                <a:gridCol w="6967118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checks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Spend Approval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thresholds; dual sign-off above a higher threshold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Vendor Due Diligence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Sanctions / watchlist screening for new or high-risk vendors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Jurisdiction Risk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Enhanced due diligence for vendors in high-risk jurisdictions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Conflict of Interest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Disclosure and compliance clearance before spend proceeds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Expense Receipts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Itemized documentation and amount reconciliation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Worker Classification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Misclassification risk for part-time / temporary engagements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Gifts &amp; Hospitality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Anti-bribery pre-approval — zero threshold for government officials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Payment-Change Verification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Independent verification of vendor banking-detail changes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59435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control cites the regulation or internal policy it enforces.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12800" y="6256021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a transaction moves through the gate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923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787400" y="189230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2336800"/>
            <a:ext cx="63222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2800" y="2631439"/>
            <a:ext cx="184180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purchase order or vendor transaction is submitted</a:t>
            </a:r>
            <a:endParaRPr lang="en-US" sz="11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89860" y="1892300"/>
            <a:ext cx="228600" cy="1397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07360" y="18923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2981960" y="189230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07360" y="2336800"/>
            <a:ext cx="75517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007360" y="2631439"/>
            <a:ext cx="184180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Checked against the versioned rule catalog for that control</a:t>
            </a:r>
            <a:endParaRPr lang="en-US" sz="11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84420" y="1892300"/>
            <a:ext cx="228600" cy="1397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01920" y="18923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5" name="Text 11"/>
          <p:cNvSpPr/>
          <p:nvPr/>
        </p:nvSpPr>
        <p:spPr>
          <a:xfrm>
            <a:off x="5176520" y="189230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201920" y="2336800"/>
            <a:ext cx="50704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201920" y="2631439"/>
            <a:ext cx="184180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risk band is assigned: low, medium, high, or critical</a:t>
            </a:r>
            <a:endParaRPr lang="en-US" sz="11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78980" y="1892300"/>
            <a:ext cx="228600" cy="1397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96480" y="18923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0" name="Text 15"/>
          <p:cNvSpPr/>
          <p:nvPr/>
        </p:nvSpPr>
        <p:spPr>
          <a:xfrm>
            <a:off x="7371080" y="189230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96480" y="2336800"/>
            <a:ext cx="1238091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&amp; route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396480" y="2631439"/>
            <a:ext cx="184180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Approved, blocked, or sent to the right reviewer</a:t>
            </a:r>
            <a:endParaRPr lang="en-US" sz="110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73540" y="1892300"/>
            <a:ext cx="228600" cy="1397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591040" y="18923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5" name="Text 19"/>
          <p:cNvSpPr/>
          <p:nvPr/>
        </p:nvSpPr>
        <p:spPr>
          <a:xfrm>
            <a:off x="9565640" y="189230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3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591040" y="2336800"/>
            <a:ext cx="489426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591040" y="2631439"/>
            <a:ext cx="1841805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step is logged, immutably, for later reconstruction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15975" y="3576957"/>
            <a:ext cx="10560050" cy="768350"/>
          </a:xfrm>
          <a:prstGeom prst="roundRect">
            <a:avLst>
              <a:gd name="adj" fmla="val 12810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29" name="Image 4" descr="Light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71880" y="3865882"/>
            <a:ext cx="184150" cy="1905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83030" y="3756661"/>
            <a:ext cx="1002920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code runs locally today (SQLite) and is built to deploy unchanged to AWS (DynamoDB, Lambda, Cognito) via CDK — no rewrite required to go live.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812800" y="6256021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IT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150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rule to decision, in one call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12900"/>
            <a:ext cx="10883392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PROC-VENDOR-PAYMENT-CHANGE-001 — the same control guarding against business-email-compromise fraud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12800" y="2045971"/>
            <a:ext cx="554593" cy="270510"/>
          </a:xfrm>
          <a:prstGeom prst="roundRect">
            <a:avLst>
              <a:gd name="adj" fmla="val 50000"/>
            </a:avLst>
          </a:prstGeom>
          <a:solidFill>
            <a:srgbClr val="2C4C7C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096771"/>
            <a:ext cx="351393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15975" y="2408557"/>
            <a:ext cx="3102610" cy="2001520"/>
          </a:xfrm>
          <a:prstGeom prst="roundRect">
            <a:avLst>
              <a:gd name="adj" fmla="val 4918"/>
            </a:avLst>
          </a:prstGeom>
          <a:solidFill>
            <a:srgbClr val="14213D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5680" y="2588261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FA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680" y="2774950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"control_id":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5680" y="2961639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"PROC-VENDOR-PAYMENT-CHANGE-001"</a:t>
            </a: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5680" y="3148332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"required_evidence": [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5680" y="3335021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"payment_change_verification_record"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95680" y="3521711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],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5680" y="3708400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"elevated_scrutiny_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5680" y="3895089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above_amount":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5680" y="4081782"/>
            <a:ext cx="2825496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FA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pic>
        <p:nvPicPr>
          <p:cNvPr id="1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40200" y="2045971"/>
            <a:ext cx="228600" cy="1397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495800" y="2045971"/>
            <a:ext cx="1104265" cy="270510"/>
          </a:xfrm>
          <a:prstGeom prst="roundRect">
            <a:avLst>
              <a:gd name="adj" fmla="val 50000"/>
            </a:avLst>
          </a:prstGeom>
          <a:solidFill>
            <a:srgbClr val="2C4C7C"/>
          </a:solidFill>
          <a:ln/>
        </p:spPr>
      </p:sp>
      <p:sp>
        <p:nvSpPr>
          <p:cNvPr id="19" name="Text 16"/>
          <p:cNvSpPr/>
          <p:nvPr/>
        </p:nvSpPr>
        <p:spPr>
          <a:xfrm>
            <a:off x="4622800" y="2096771"/>
            <a:ext cx="901065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98975" y="2408557"/>
            <a:ext cx="3194050" cy="1963420"/>
          </a:xfrm>
          <a:prstGeom prst="roundRect">
            <a:avLst>
              <a:gd name="adj" fmla="val 5013"/>
            </a:avLst>
          </a:prstGeom>
          <a:solidFill>
            <a:srgbClr val="14213D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78680" y="2588261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FA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678680" y="2774950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"case_id":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"CASE-2029"</a:t>
            </a: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78680" y="2961639"/>
            <a:ext cx="2919679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"vendor_name":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"Meridian Consulting Group"</a:t>
            </a: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78680" y="3296921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"vendor_payment_details_changed":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78680" y="3483611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"payment_change_verification_record": {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78680" y="3670300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"verified":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78680" y="3856989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78680" y="4043682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FA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pic>
        <p:nvPicPr>
          <p:cNvPr id="2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23200" y="2045971"/>
            <a:ext cx="228600" cy="1397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178800" y="2045971"/>
            <a:ext cx="842963" cy="270510"/>
          </a:xfrm>
          <a:prstGeom prst="roundRect">
            <a:avLst>
              <a:gd name="adj" fmla="val 50000"/>
            </a:avLst>
          </a:prstGeom>
          <a:solidFill>
            <a:srgbClr val="8A6421"/>
          </a:solidFill>
          <a:ln/>
        </p:spPr>
      </p:sp>
      <p:sp>
        <p:nvSpPr>
          <p:cNvPr id="31" name="Text 27"/>
          <p:cNvSpPr/>
          <p:nvPr/>
        </p:nvSpPr>
        <p:spPr>
          <a:xfrm>
            <a:off x="8305800" y="2096771"/>
            <a:ext cx="639763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181975" y="2408557"/>
            <a:ext cx="3194050" cy="2035810"/>
          </a:xfrm>
          <a:prstGeom prst="roundRect">
            <a:avLst>
              <a:gd name="adj" fmla="val 4835"/>
            </a:avLst>
          </a:prstGeom>
          <a:solidFill>
            <a:srgbClr val="14213D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61680" y="2588261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FA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361680" y="2774950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"decision":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"blocked"</a:t>
            </a: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8361680" y="2961639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"risk_band":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"critical"</a:t>
            </a: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8361680" y="3148332"/>
            <a:ext cx="2919679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"recommended_action":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"Block the payment. Escalate to Finance and Legal immediately as a suspected fraud incident."</a:t>
            </a: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361680" y="3780789"/>
            <a:ext cx="2919679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DCE3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"escalation_recipients": </a:t>
            </a:r>
            <a:r>
              <a:rPr lang="en-US" sz="900" dirty="0">
                <a:solidFill>
                  <a:srgbClr val="D9A94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["procurement", "finance", "legal"]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8361680" y="4116071"/>
            <a:ext cx="2919679" cy="17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8FA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12800" y="4676139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CASE-2029 from the seeded demo data, citing Barbados's Computer Misuse Act, Chapter 124B — every field name and value above is the engine's real output for this case.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12800" y="6256021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Same control, four scenarios</a:t>
            </a:r>
            <a:endParaRPr lang="en-US" sz="2800" dirty="0"/>
          </a:p>
        </p:txBody>
      </p:sp>
      <p:pic>
        <p:nvPicPr>
          <p:cNvPr id="4" name="Image 0" descr="web emb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28800"/>
            <a:ext cx="10566400" cy="421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256021"/>
            <a:ext cx="501640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 — live simulation, mirrors the real evaluator's logic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Four decisions, always explainable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16100"/>
            <a:ext cx="2546350" cy="1126490"/>
          </a:xfrm>
          <a:prstGeom prst="roundRect">
            <a:avLst>
              <a:gd name="adj" fmla="val 9019"/>
            </a:avLst>
          </a:prstGeom>
          <a:solidFill>
            <a:srgbClr val="EAF6EF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2019300"/>
            <a:ext cx="893207" cy="27051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70100"/>
            <a:ext cx="690007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6000" y="2366011"/>
            <a:ext cx="220414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5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Meets every rule — proceeds without delay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86150" y="1816100"/>
            <a:ext cx="2546350" cy="1126490"/>
          </a:xfrm>
          <a:prstGeom prst="roundRect">
            <a:avLst>
              <a:gd name="adj" fmla="val 9019"/>
            </a:avLst>
          </a:prstGeom>
          <a:solidFill>
            <a:srgbClr val="FBEAEA"/>
          </a:solidFill>
          <a:ln/>
        </p:spPr>
      </p:sp>
      <p:sp>
        <p:nvSpPr>
          <p:cNvPr id="9" name="Shape 7"/>
          <p:cNvSpPr/>
          <p:nvPr/>
        </p:nvSpPr>
        <p:spPr>
          <a:xfrm>
            <a:off x="3689350" y="2019300"/>
            <a:ext cx="799624" cy="270510"/>
          </a:xfrm>
          <a:prstGeom prst="roundRect">
            <a:avLst>
              <a:gd name="adj" fmla="val 50000"/>
            </a:avLst>
          </a:prstGeom>
          <a:solidFill>
            <a:srgbClr val="B23B3B"/>
          </a:solidFill>
          <a:ln/>
        </p:spPr>
      </p:sp>
      <p:sp>
        <p:nvSpPr>
          <p:cNvPr id="10" name="Text 8"/>
          <p:cNvSpPr/>
          <p:nvPr/>
        </p:nvSpPr>
        <p:spPr>
          <a:xfrm>
            <a:off x="3816350" y="2070100"/>
            <a:ext cx="59642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89350" y="2366011"/>
            <a:ext cx="220414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C2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Fails a control outright — spend stops here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9500" y="1816100"/>
            <a:ext cx="2546350" cy="1126490"/>
          </a:xfrm>
          <a:prstGeom prst="roundRect">
            <a:avLst>
              <a:gd name="adj" fmla="val 9019"/>
            </a:avLst>
          </a:prstGeom>
          <a:solidFill>
            <a:srgbClr val="FBF3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2700" y="2019300"/>
            <a:ext cx="1736249" cy="270510"/>
          </a:xfrm>
          <a:prstGeom prst="roundRect">
            <a:avLst>
              <a:gd name="adj" fmla="val 50000"/>
            </a:avLst>
          </a:prstGeom>
          <a:solidFill>
            <a:srgbClr val="8A6421"/>
          </a:solidFill>
          <a:ln/>
        </p:spPr>
      </p:sp>
      <p:sp>
        <p:nvSpPr>
          <p:cNvPr id="14" name="Text 12"/>
          <p:cNvSpPr/>
          <p:nvPr/>
        </p:nvSpPr>
        <p:spPr>
          <a:xfrm>
            <a:off x="6489700" y="2070100"/>
            <a:ext cx="1533049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INSUFFICIENT EVIDENCE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62700" y="2366011"/>
            <a:ext cx="220414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documentation — more evidence required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32850" y="1816100"/>
            <a:ext cx="2546350" cy="1126490"/>
          </a:xfrm>
          <a:prstGeom prst="roundRect">
            <a:avLst>
              <a:gd name="adj" fmla="val 9019"/>
            </a:avLst>
          </a:prstGeom>
          <a:solidFill>
            <a:srgbClr val="EAF0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36050" y="2019300"/>
            <a:ext cx="1198086" cy="270510"/>
          </a:xfrm>
          <a:prstGeom prst="roundRect">
            <a:avLst>
              <a:gd name="adj" fmla="val 50000"/>
            </a:avLst>
          </a:prstGeom>
          <a:solidFill>
            <a:srgbClr val="2C4C7C"/>
          </a:solidFill>
          <a:ln/>
        </p:spPr>
      </p:sp>
      <p:sp>
        <p:nvSpPr>
          <p:cNvPr id="18" name="Text 16"/>
          <p:cNvSpPr/>
          <p:nvPr/>
        </p:nvSpPr>
        <p:spPr>
          <a:xfrm>
            <a:off x="9163050" y="2070100"/>
            <a:ext cx="99488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REVIEW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36050" y="2366011"/>
            <a:ext cx="220414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A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Ambiguous or high-risk — a person makes the call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975" y="3225164"/>
            <a:ext cx="10560050" cy="1174750"/>
          </a:xfrm>
          <a:prstGeom prst="roundRect">
            <a:avLst>
              <a:gd name="adj" fmla="val 837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1880" y="3455671"/>
            <a:ext cx="10349687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oversight on every review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71880" y="3750311"/>
            <a:ext cx="1034968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manager assigns a reviewer, who starts and submits the decision with mandatory notes. Identity is checked at every step, and any completed review can be reopened with a documented reason. Four roles — employee, compliance analyst, compliance manager, auditor — govern who can do what.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2800" y="6256021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Built for audit from day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93875"/>
            <a:ext cx="5200650" cy="1418590"/>
          </a:xfrm>
          <a:prstGeom prst="roundRect">
            <a:avLst>
              <a:gd name="adj" fmla="val 693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5" name="Image 0" descr="Lin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024379"/>
            <a:ext cx="215900" cy="215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316479"/>
            <a:ext cx="488182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traceability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46480" y="2590800"/>
            <a:ext cx="488182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control cites the exact regulation or internal policy it enforces.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5375" y="1793875"/>
            <a:ext cx="5200650" cy="1418590"/>
          </a:xfrm>
          <a:prstGeom prst="roundRect">
            <a:avLst>
              <a:gd name="adj" fmla="val 693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5880" y="2024379"/>
            <a:ext cx="215900" cy="215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5880" y="2316479"/>
            <a:ext cx="488182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Escalation routing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5880" y="2590800"/>
            <a:ext cx="488182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decision computes who should be notified — Procurement, Legal, Finance — by risk band.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5975" y="3371217"/>
            <a:ext cx="5200650" cy="1418590"/>
          </a:xfrm>
          <a:prstGeom prst="roundRect">
            <a:avLst>
              <a:gd name="adj" fmla="val 693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3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6480" y="3601721"/>
            <a:ext cx="215900" cy="215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6480" y="3893821"/>
            <a:ext cx="488182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dashboard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46480" y="4168142"/>
            <a:ext cx="488182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Per-control decisions, risk-signal frequency, and pending notifications in a single view.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5375" y="3371217"/>
            <a:ext cx="5200650" cy="1418590"/>
          </a:xfrm>
          <a:prstGeom prst="roundRect">
            <a:avLst>
              <a:gd name="adj" fmla="val 693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pic>
        <p:nvPicPr>
          <p:cNvPr id="17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5880" y="3601721"/>
            <a:ext cx="215900" cy="215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5880" y="3893821"/>
            <a:ext cx="488182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Append-only audit trail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5880" y="4168142"/>
            <a:ext cx="488182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decision and review action is logged immutably, with actor and timestamp.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12800" y="6256021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213D"/>
              </a:gs>
              <a:gs pos="100000">
                <a:srgbClr val="0F1A30"/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9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27764"/>
            <a:ext cx="9810750" cy="8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cost of unmanaged vendor risk is real — and avoidable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5975" y="2253617"/>
            <a:ext cx="5200650" cy="1108710"/>
          </a:xfrm>
          <a:prstGeom prst="roundRect">
            <a:avLst>
              <a:gd name="adj" fmla="val 8877"/>
            </a:avLst>
          </a:prstGeom>
          <a:solidFill>
            <a:srgbClr val="1F2E52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6480" y="2484121"/>
            <a:ext cx="488182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9A9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Stops fraud before it pays 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6480" y="2758442"/>
            <a:ext cx="488182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Gated before the money moves, not reviewed after — including the business-email-compromise pattern behind most payment fraud.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5375" y="2253617"/>
            <a:ext cx="5200650" cy="1108710"/>
          </a:xfrm>
          <a:prstGeom prst="roundRect">
            <a:avLst>
              <a:gd name="adj" fmla="val 8877"/>
            </a:avLst>
          </a:prstGeom>
          <a:solidFill>
            <a:srgbClr val="1F2E52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5880" y="2484121"/>
            <a:ext cx="488182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9A9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Reduces real legal exposure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5880" y="2758442"/>
            <a:ext cx="488182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Anti-bribery breaches alone carry penalties up to BBD $1.5M or 15 years imprisonment under Barbados law.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5975" y="3521075"/>
            <a:ext cx="5200650" cy="1108710"/>
          </a:xfrm>
          <a:prstGeom prst="roundRect">
            <a:avLst>
              <a:gd name="adj" fmla="val 8877"/>
            </a:avLst>
          </a:prstGeom>
          <a:solidFill>
            <a:srgbClr val="1F2E52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6480" y="3751579"/>
            <a:ext cx="488182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9A9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audit-ready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6480" y="4025900"/>
            <a:ext cx="488182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decision can be reconstructed — what rule, what evidence, what outcome — on demand.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5375" y="3521075"/>
            <a:ext cx="5200650" cy="1108710"/>
          </a:xfrm>
          <a:prstGeom prst="roundRect">
            <a:avLst>
              <a:gd name="adj" fmla="val 8877"/>
            </a:avLst>
          </a:prstGeom>
          <a:solidFill>
            <a:srgbClr val="1F2E52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5880" y="3751579"/>
            <a:ext cx="488182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9A9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Scales without headcount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5880" y="4025900"/>
            <a:ext cx="488182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rule catalog, eight controls — consistent enforcement as vendor volume grows.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2800" y="6256021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FA0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89664"/>
            <a:ext cx="10883392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Same code, either environment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38500" y="1596392"/>
            <a:ext cx="4318000" cy="482600"/>
          </a:xfrm>
          <a:prstGeom prst="roundRect">
            <a:avLst>
              <a:gd name="adj" fmla="val 15789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3390900" y="1672592"/>
            <a:ext cx="41335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— Swagger UI / curl / LLM agent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90900" y="1880871"/>
            <a:ext cx="4133596" cy="14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3"/>
              </a:lnSpc>
              <a:buNone/>
            </a:pPr>
            <a:r>
              <a:rPr lang="en-US" sz="695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JWT: HS256 (local) or RS256 via Cognito JWKS (AWS)</a:t>
            </a:r>
            <a:endParaRPr lang="en-US" sz="695" dirty="0"/>
          </a:p>
        </p:txBody>
      </p:sp>
      <p:sp>
        <p:nvSpPr>
          <p:cNvPr id="7" name="Shape 5"/>
          <p:cNvSpPr/>
          <p:nvPr/>
        </p:nvSpPr>
        <p:spPr>
          <a:xfrm>
            <a:off x="3243263" y="2388555"/>
            <a:ext cx="2022475" cy="371475"/>
          </a:xfrm>
          <a:prstGeom prst="roundRect">
            <a:avLst>
              <a:gd name="adj" fmla="val 15812"/>
            </a:avLst>
          </a:prstGeom>
          <a:solidFill>
            <a:srgbClr val="F1F2F4"/>
          </a:solidFill>
          <a:ln w="9525">
            <a:solidFill>
              <a:srgbClr val="8A90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0580" y="2439671"/>
            <a:ext cx="1820875" cy="172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38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</a:t>
            </a:r>
            <a:endParaRPr lang="en-US" sz="838" dirty="0"/>
          </a:p>
        </p:txBody>
      </p:sp>
      <p:sp>
        <p:nvSpPr>
          <p:cNvPr id="9" name="Text 7"/>
          <p:cNvSpPr/>
          <p:nvPr/>
        </p:nvSpPr>
        <p:spPr>
          <a:xfrm>
            <a:off x="3370580" y="2598979"/>
            <a:ext cx="1820875" cy="135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623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uvicorn — dev_server.py / run_demo.py</a:t>
            </a:r>
            <a:endParaRPr lang="en-US" sz="623" dirty="0"/>
          </a:p>
        </p:txBody>
      </p:sp>
      <p:sp>
        <p:nvSpPr>
          <p:cNvPr id="10" name="Shape 8"/>
          <p:cNvSpPr/>
          <p:nvPr/>
        </p:nvSpPr>
        <p:spPr>
          <a:xfrm>
            <a:off x="5529263" y="2388555"/>
            <a:ext cx="2022475" cy="371475"/>
          </a:xfrm>
          <a:prstGeom prst="roundRect">
            <a:avLst>
              <a:gd name="adj" fmla="val 15812"/>
            </a:avLst>
          </a:prstGeom>
          <a:solidFill>
            <a:srgbClr val="FFF4E5"/>
          </a:solidFill>
          <a:ln w="9525">
            <a:solidFill>
              <a:srgbClr val="B88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6580" y="2439671"/>
            <a:ext cx="1820875" cy="172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38" b="1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</a:t>
            </a:r>
            <a:endParaRPr lang="en-US" sz="838" dirty="0"/>
          </a:p>
        </p:txBody>
      </p:sp>
      <p:sp>
        <p:nvSpPr>
          <p:cNvPr id="12" name="Text 10"/>
          <p:cNvSpPr/>
          <p:nvPr/>
        </p:nvSpPr>
        <p:spPr>
          <a:xfrm>
            <a:off x="5656580" y="2598979"/>
            <a:ext cx="1820875" cy="135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3"/>
              </a:lnSpc>
              <a:buNone/>
            </a:pPr>
            <a:r>
              <a:rPr lang="en-US" sz="623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Gateway (HTTP API) → Lambda</a:t>
            </a:r>
            <a:endParaRPr lang="en-US" sz="623" dirty="0"/>
          </a:p>
        </p:txBody>
      </p:sp>
      <p:sp>
        <p:nvSpPr>
          <p:cNvPr id="13" name="Shape 11"/>
          <p:cNvSpPr/>
          <p:nvPr/>
        </p:nvSpPr>
        <p:spPr>
          <a:xfrm>
            <a:off x="817563" y="3074355"/>
            <a:ext cx="2149475" cy="625475"/>
          </a:xfrm>
          <a:prstGeom prst="roundRect">
            <a:avLst>
              <a:gd name="adj" fmla="val 9391"/>
            </a:avLst>
          </a:prstGeom>
          <a:solidFill>
            <a:srgbClr val="F5F0FA"/>
          </a:solidFill>
          <a:ln w="9525">
            <a:solidFill>
              <a:srgbClr val="7B5FA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44880" y="3174367"/>
            <a:ext cx="1951685" cy="17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5B3E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Optional: LLM triage agent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44880" y="3350896"/>
            <a:ext cx="1951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5B3E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Extracts fields from plain English — never decides risk itself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44850" y="3075942"/>
            <a:ext cx="4305300" cy="622300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6460" y="3181350"/>
            <a:ext cx="4060342" cy="173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837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app + deterministic rule engine</a:t>
            </a:r>
            <a:endParaRPr lang="en-US" sz="837" dirty="0"/>
          </a:p>
        </p:txBody>
      </p:sp>
      <p:sp>
        <p:nvSpPr>
          <p:cNvPr id="18" name="Text 16"/>
          <p:cNvSpPr/>
          <p:nvPr/>
        </p:nvSpPr>
        <p:spPr>
          <a:xfrm>
            <a:off x="3426460" y="3367726"/>
            <a:ext cx="406034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58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versioned rule catalogs, each citing real regulation</a:t>
            </a:r>
            <a:endParaRPr lang="en-US" sz="588" dirty="0"/>
          </a:p>
        </p:txBody>
      </p:sp>
      <p:sp>
        <p:nvSpPr>
          <p:cNvPr id="19" name="Text 17"/>
          <p:cNvSpPr/>
          <p:nvPr/>
        </p:nvSpPr>
        <p:spPr>
          <a:xfrm>
            <a:off x="3426460" y="3509014"/>
            <a:ext cx="4060342" cy="10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82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decision, risk band, escalation recipients — no LLM in this path</a:t>
            </a:r>
            <a:endParaRPr lang="en-US" sz="482" dirty="0"/>
          </a:p>
        </p:txBody>
      </p:sp>
      <p:sp>
        <p:nvSpPr>
          <p:cNvPr id="20" name="Shape 18"/>
          <p:cNvSpPr/>
          <p:nvPr/>
        </p:nvSpPr>
        <p:spPr>
          <a:xfrm>
            <a:off x="3243263" y="4090355"/>
            <a:ext cx="2022475" cy="371475"/>
          </a:xfrm>
          <a:prstGeom prst="roundRect">
            <a:avLst>
              <a:gd name="adj" fmla="val 15812"/>
            </a:avLst>
          </a:prstGeom>
          <a:solidFill>
            <a:srgbClr val="F1F2F4"/>
          </a:solidFill>
          <a:ln w="9525">
            <a:solidFill>
              <a:srgbClr val="8A90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0580" y="4141471"/>
            <a:ext cx="1820875" cy="174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38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SQLite (local)</a:t>
            </a:r>
            <a:endParaRPr lang="en-US" sz="838" dirty="0"/>
          </a:p>
        </p:txBody>
      </p:sp>
      <p:sp>
        <p:nvSpPr>
          <p:cNvPr id="22" name="Text 20"/>
          <p:cNvSpPr/>
          <p:nvPr/>
        </p:nvSpPr>
        <p:spPr>
          <a:xfrm>
            <a:off x="3370580" y="4303161"/>
            <a:ext cx="1820875" cy="13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4"/>
              </a:lnSpc>
              <a:buNone/>
            </a:pPr>
            <a:r>
              <a:rPr lang="en-US" sz="62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decisions, reviews + audit history</a:t>
            </a:r>
            <a:endParaRPr lang="en-US" sz="625" dirty="0"/>
          </a:p>
        </p:txBody>
      </p:sp>
      <p:sp>
        <p:nvSpPr>
          <p:cNvPr id="23" name="Shape 21"/>
          <p:cNvSpPr/>
          <p:nvPr/>
        </p:nvSpPr>
        <p:spPr>
          <a:xfrm>
            <a:off x="5529263" y="4090355"/>
            <a:ext cx="2022475" cy="371475"/>
          </a:xfrm>
          <a:prstGeom prst="roundRect">
            <a:avLst>
              <a:gd name="adj" fmla="val 15812"/>
            </a:avLst>
          </a:prstGeom>
          <a:solidFill>
            <a:srgbClr val="FFF4E5"/>
          </a:solidFill>
          <a:ln w="9525">
            <a:solidFill>
              <a:srgbClr val="B886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56580" y="4141471"/>
            <a:ext cx="1820875" cy="174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838" b="1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DynamoDB (AWS)</a:t>
            </a:r>
            <a:endParaRPr lang="en-US" sz="838" dirty="0"/>
          </a:p>
        </p:txBody>
      </p:sp>
      <p:sp>
        <p:nvSpPr>
          <p:cNvPr id="25" name="Text 23"/>
          <p:cNvSpPr/>
          <p:nvPr/>
        </p:nvSpPr>
        <p:spPr>
          <a:xfrm>
            <a:off x="5656580" y="4303161"/>
            <a:ext cx="1820875" cy="13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4"/>
              </a:lnSpc>
              <a:buNone/>
            </a:pPr>
            <a:r>
              <a:rPr lang="en-US" sz="625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tables, streamed for export</a:t>
            </a:r>
            <a:endParaRPr lang="en-US" sz="625" dirty="0"/>
          </a:p>
        </p:txBody>
      </p:sp>
      <p:sp>
        <p:nvSpPr>
          <p:cNvPr id="26" name="Shape 24"/>
          <p:cNvSpPr/>
          <p:nvPr/>
        </p:nvSpPr>
        <p:spPr>
          <a:xfrm>
            <a:off x="5529263" y="4661855"/>
            <a:ext cx="2022475" cy="358775"/>
          </a:xfrm>
          <a:prstGeom prst="roundRect">
            <a:avLst>
              <a:gd name="adj" fmla="val 16372"/>
            </a:avLst>
          </a:prstGeom>
          <a:solidFill>
            <a:srgbClr val="FFF4E5"/>
          </a:solidFill>
          <a:ln w="9525">
            <a:solidFill>
              <a:srgbClr val="B886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6580" y="4710429"/>
            <a:ext cx="182087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export → S3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56580" y="4865371"/>
            <a:ext cx="1820875" cy="13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immutable archive (RemovalPolicy.RETAIN)</a:t>
            </a:r>
            <a:endParaRPr lang="en-US" sz="600" dirty="0"/>
          </a:p>
        </p:txBody>
      </p:sp>
      <p:pic>
        <p:nvPicPr>
          <p:cNvPr id="2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59400" y="2040892"/>
            <a:ext cx="76200" cy="228600"/>
          </a:xfrm>
          <a:prstGeom prst="rect">
            <a:avLst/>
          </a:prstGeom>
        </p:spPr>
      </p:pic>
      <p:pic>
        <p:nvPicPr>
          <p:cNvPr id="3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16400" y="2193292"/>
            <a:ext cx="2362200" cy="76200"/>
          </a:xfrm>
          <a:prstGeom prst="rect">
            <a:avLst/>
          </a:prstGeom>
        </p:spPr>
      </p:pic>
      <p:pic>
        <p:nvPicPr>
          <p:cNvPr id="3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16400" y="2193292"/>
            <a:ext cx="76200" cy="228600"/>
          </a:xfrm>
          <a:prstGeom prst="rect">
            <a:avLst/>
          </a:prstGeom>
        </p:spPr>
      </p:pic>
      <p:pic>
        <p:nvPicPr>
          <p:cNvPr id="3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02400" y="2193292"/>
            <a:ext cx="76200" cy="228600"/>
          </a:xfrm>
          <a:prstGeom prst="rect">
            <a:avLst/>
          </a:prstGeom>
        </p:spPr>
      </p:pic>
      <p:pic>
        <p:nvPicPr>
          <p:cNvPr id="33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16400" y="2726692"/>
            <a:ext cx="76200" cy="228600"/>
          </a:xfrm>
          <a:prstGeom prst="rect">
            <a:avLst/>
          </a:prstGeom>
        </p:spPr>
      </p:pic>
      <p:pic>
        <p:nvPicPr>
          <p:cNvPr id="34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02400" y="2726692"/>
            <a:ext cx="76200" cy="228600"/>
          </a:xfrm>
          <a:prstGeom prst="rect">
            <a:avLst/>
          </a:prstGeom>
        </p:spPr>
      </p:pic>
      <p:pic>
        <p:nvPicPr>
          <p:cNvPr id="35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216400" y="2879092"/>
            <a:ext cx="2362200" cy="76200"/>
          </a:xfrm>
          <a:prstGeom prst="rect">
            <a:avLst/>
          </a:prstGeom>
        </p:spPr>
      </p:pic>
      <p:pic>
        <p:nvPicPr>
          <p:cNvPr id="36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59400" y="2879092"/>
            <a:ext cx="76200" cy="228600"/>
          </a:xfrm>
          <a:prstGeom prst="rect">
            <a:avLst/>
          </a:prstGeom>
        </p:spPr>
      </p:pic>
      <p:pic>
        <p:nvPicPr>
          <p:cNvPr id="37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359400" y="3666492"/>
            <a:ext cx="76200" cy="304800"/>
          </a:xfrm>
          <a:prstGeom prst="rect">
            <a:avLst/>
          </a:prstGeom>
        </p:spPr>
      </p:pic>
      <p:pic>
        <p:nvPicPr>
          <p:cNvPr id="38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216400" y="3895092"/>
            <a:ext cx="2362200" cy="76200"/>
          </a:xfrm>
          <a:prstGeom prst="rect">
            <a:avLst/>
          </a:prstGeom>
        </p:spPr>
      </p:pic>
      <p:pic>
        <p:nvPicPr>
          <p:cNvPr id="39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216400" y="3895092"/>
            <a:ext cx="76200" cy="228600"/>
          </a:xfrm>
          <a:prstGeom prst="rect">
            <a:avLst/>
          </a:prstGeom>
        </p:spPr>
      </p:pic>
      <p:pic>
        <p:nvPicPr>
          <p:cNvPr id="40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502400" y="3895092"/>
            <a:ext cx="76200" cy="228600"/>
          </a:xfrm>
          <a:prstGeom prst="rect">
            <a:avLst/>
          </a:prstGeom>
        </p:spPr>
      </p:pic>
      <p:pic>
        <p:nvPicPr>
          <p:cNvPr id="41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502400" y="4428492"/>
            <a:ext cx="76200" cy="266700"/>
          </a:xfrm>
          <a:prstGeom prst="rect">
            <a:avLst/>
          </a:prstGeom>
        </p:spPr>
      </p:pic>
      <p:pic>
        <p:nvPicPr>
          <p:cNvPr id="42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933700" y="3348992"/>
            <a:ext cx="342900" cy="76200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812800" y="5152392"/>
            <a:ext cx="3261122" cy="32131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/>
        </p:spPr>
      </p:sp>
      <p:sp>
        <p:nvSpPr>
          <p:cNvPr id="44" name="Text 28"/>
          <p:cNvSpPr/>
          <p:nvPr/>
        </p:nvSpPr>
        <p:spPr>
          <a:xfrm>
            <a:off x="977900" y="5228592"/>
            <a:ext cx="301885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1F5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CI/CD: GitHub Actions + OIDC — no stored AWS keys</a:t>
            </a:r>
            <a:endParaRPr lang="en-US" sz="950" dirty="0"/>
          </a:p>
        </p:txBody>
      </p:sp>
      <p:sp>
        <p:nvSpPr>
          <p:cNvPr id="45" name="Shape 29"/>
          <p:cNvSpPr/>
          <p:nvPr/>
        </p:nvSpPr>
        <p:spPr>
          <a:xfrm>
            <a:off x="4175522" y="5152392"/>
            <a:ext cx="3329543" cy="32131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46" name="Text 30"/>
          <p:cNvSpPr/>
          <p:nvPr/>
        </p:nvSpPr>
        <p:spPr>
          <a:xfrm>
            <a:off x="4340622" y="5228592"/>
            <a:ext cx="308932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Governed: CloudWatch alarms + $25/mo AWS Budget</a:t>
            </a:r>
            <a:endParaRPr lang="en-US" sz="950" dirty="0"/>
          </a:p>
        </p:txBody>
      </p:sp>
      <p:sp>
        <p:nvSpPr>
          <p:cNvPr id="47" name="Shape 31"/>
          <p:cNvSpPr/>
          <p:nvPr/>
        </p:nvSpPr>
        <p:spPr>
          <a:xfrm>
            <a:off x="7606665" y="5152392"/>
            <a:ext cx="3101419" cy="32131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48" name="Text 32"/>
          <p:cNvSpPr/>
          <p:nvPr/>
        </p:nvSpPr>
        <p:spPr>
          <a:xfrm>
            <a:off x="7771765" y="5228592"/>
            <a:ext cx="285435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4C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Measured: p50 11.4ms / p95 12.7ms per decision</a:t>
            </a:r>
            <a:endParaRPr lang="en-US" sz="950" dirty="0"/>
          </a:p>
        </p:txBody>
      </p:sp>
      <p:sp>
        <p:nvSpPr>
          <p:cNvPr id="49" name="Text 33"/>
          <p:cNvSpPr/>
          <p:nvPr/>
        </p:nvSpPr>
        <p:spPr>
          <a:xfrm>
            <a:off x="812800" y="6256021"/>
            <a:ext cx="17446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IT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64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actually happened when we ran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38300"/>
            <a:ext cx="10883392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seeded transactions, evaluated locally against the real engine — this is /dashboard/summary's live response, not a mockup.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12800" y="2096771"/>
            <a:ext cx="10566400" cy="490220"/>
          </a:xfrm>
          <a:custGeom>
            <a:avLst/>
            <a:gdLst/>
            <a:ahLst/>
            <a:cxnLst/>
            <a:rect l="l" t="t" r="r" b="b"/>
            <a:pathLst>
              <a:path w="10566400" h="490220">
                <a:moveTo>
                  <a:pt x="1016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490220"/>
                </a:lnTo>
                <a:lnTo>
                  <a:pt x="0" y="49022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4213D"/>
          </a:solidFill>
          <a:ln/>
        </p:spPr>
      </p:sp>
      <p:pic>
        <p:nvPicPr>
          <p:cNvPr id="6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2297429"/>
            <a:ext cx="88900" cy="88900"/>
          </a:xfrm>
          <a:prstGeom prst="rect">
            <a:avLst/>
          </a:prstGeom>
        </p:spPr>
      </p:pic>
      <p:pic>
        <p:nvPicPr>
          <p:cNvPr id="7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5700" y="2297429"/>
            <a:ext cx="88900" cy="88900"/>
          </a:xfrm>
          <a:prstGeom prst="rect">
            <a:avLst/>
          </a:prstGeom>
        </p:spPr>
      </p:pic>
      <p:pic>
        <p:nvPicPr>
          <p:cNvPr id="8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95400" y="2297429"/>
            <a:ext cx="88900" cy="88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85900" y="2252979"/>
            <a:ext cx="282549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CC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localhost:8000/dashboard/summary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10553462" y="2223771"/>
            <a:ext cx="622538" cy="236220"/>
          </a:xfrm>
          <a:prstGeom prst="roundRect">
            <a:avLst>
              <a:gd name="adj" fmla="val 50000"/>
            </a:avLst>
          </a:prstGeom>
          <a:solidFill>
            <a:srgbClr val="2F7D5B"/>
          </a:solidFill>
          <a:ln/>
        </p:spPr>
      </p:sp>
      <p:sp>
        <p:nvSpPr>
          <p:cNvPr id="11" name="Text 6"/>
          <p:cNvSpPr/>
          <p:nvPr/>
        </p:nvSpPr>
        <p:spPr>
          <a:xfrm>
            <a:off x="10667762" y="2261871"/>
            <a:ext cx="444738" cy="18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 OK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815975" y="2590167"/>
            <a:ext cx="10560050" cy="2005330"/>
          </a:xfrm>
          <a:custGeom>
            <a:avLst/>
            <a:gdLst/>
            <a:ahLst/>
            <a:cxnLst/>
            <a:rect l="l" t="t" r="r" b="b"/>
            <a:pathLst>
              <a:path w="10560050" h="2005330">
                <a:moveTo>
                  <a:pt x="0" y="0"/>
                </a:moveTo>
                <a:lnTo>
                  <a:pt x="10560050" y="0"/>
                </a:lnTo>
                <a:lnTo>
                  <a:pt x="10560050" y="1906905"/>
                </a:lnTo>
                <a:arcTo hR="98425" wR="98425" stAng="0" swAng="5400000"/>
                <a:lnTo>
                  <a:pt x="98425" y="2005330"/>
                </a:lnTo>
                <a:arcTo hR="98425" wR="98425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71880" y="2846071"/>
            <a:ext cx="2416810" cy="934720"/>
          </a:xfrm>
          <a:prstGeom prst="roundRect">
            <a:avLst>
              <a:gd name="adj" fmla="val 10870"/>
            </a:avLst>
          </a:prstGeom>
          <a:solidFill>
            <a:srgbClr val="F1F2F4"/>
          </a:solidFill>
          <a:ln/>
        </p:spPr>
      </p:sp>
      <p:sp>
        <p:nvSpPr>
          <p:cNvPr id="14" name="Text 9"/>
          <p:cNvSpPr/>
          <p:nvPr/>
        </p:nvSpPr>
        <p:spPr>
          <a:xfrm>
            <a:off x="1224280" y="2998471"/>
            <a:ext cx="217537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224280" y="3450592"/>
            <a:ext cx="21753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Transactions evaluated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15690" y="2846071"/>
            <a:ext cx="2416810" cy="934720"/>
          </a:xfrm>
          <a:prstGeom prst="roundRect">
            <a:avLst>
              <a:gd name="adj" fmla="val 10870"/>
            </a:avLst>
          </a:prstGeom>
          <a:solidFill>
            <a:srgbClr val="F1F2F4"/>
          </a:solidFill>
          <a:ln/>
        </p:spPr>
      </p:sp>
      <p:sp>
        <p:nvSpPr>
          <p:cNvPr id="17" name="Text 12"/>
          <p:cNvSpPr/>
          <p:nvPr/>
        </p:nvSpPr>
        <p:spPr>
          <a:xfrm>
            <a:off x="3768090" y="2998471"/>
            <a:ext cx="217537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23B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3768090" y="3450592"/>
            <a:ext cx="21753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Blocked outright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59500" y="2846071"/>
            <a:ext cx="2416810" cy="934720"/>
          </a:xfrm>
          <a:prstGeom prst="roundRect">
            <a:avLst>
              <a:gd name="adj" fmla="val 10870"/>
            </a:avLst>
          </a:prstGeom>
          <a:solidFill>
            <a:srgbClr val="F1F2F4"/>
          </a:solidFill>
          <a:ln/>
        </p:spPr>
      </p:sp>
      <p:sp>
        <p:nvSpPr>
          <p:cNvPr id="20" name="Text 15"/>
          <p:cNvSpPr/>
          <p:nvPr/>
        </p:nvSpPr>
        <p:spPr>
          <a:xfrm>
            <a:off x="6311900" y="2998471"/>
            <a:ext cx="217537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A64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311900" y="3450592"/>
            <a:ext cx="21753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Insufficient evidence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703310" y="2846071"/>
            <a:ext cx="2416810" cy="934720"/>
          </a:xfrm>
          <a:prstGeom prst="roundRect">
            <a:avLst>
              <a:gd name="adj" fmla="val 10870"/>
            </a:avLst>
          </a:prstGeom>
          <a:solidFill>
            <a:srgbClr val="F1F2F4"/>
          </a:solidFill>
          <a:ln/>
        </p:spPr>
      </p:sp>
      <p:sp>
        <p:nvSpPr>
          <p:cNvPr id="23" name="Text 18"/>
          <p:cNvSpPr/>
          <p:nvPr/>
        </p:nvSpPr>
        <p:spPr>
          <a:xfrm>
            <a:off x="8855710" y="2998471"/>
            <a:ext cx="217537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855710" y="3450592"/>
            <a:ext cx="21753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Controls touched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071880" y="3983992"/>
            <a:ext cx="170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Escalations queued, by team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875280" y="4009392"/>
            <a:ext cx="1294448" cy="304800"/>
          </a:xfrm>
          <a:prstGeom prst="roundRect">
            <a:avLst>
              <a:gd name="adj" fmla="val 50000"/>
            </a:avLst>
          </a:prstGeom>
          <a:solidFill>
            <a:srgbClr val="EAF0F8"/>
          </a:solidFill>
          <a:ln/>
        </p:spPr>
      </p:sp>
      <p:sp>
        <p:nvSpPr>
          <p:cNvPr id="27" name="Text 22"/>
          <p:cNvSpPr/>
          <p:nvPr/>
        </p:nvSpPr>
        <p:spPr>
          <a:xfrm>
            <a:off x="3027680" y="4072892"/>
            <a:ext cx="104044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C4C7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Procurement: 11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271328" y="4009392"/>
            <a:ext cx="764540" cy="30480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/>
        </p:spPr>
      </p:sp>
      <p:sp>
        <p:nvSpPr>
          <p:cNvPr id="29" name="Text 24"/>
          <p:cNvSpPr/>
          <p:nvPr/>
        </p:nvSpPr>
        <p:spPr>
          <a:xfrm>
            <a:off x="4423728" y="4072892"/>
            <a:ext cx="51054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8C2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Legal: 8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137467" y="4009392"/>
            <a:ext cx="915432" cy="3048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/>
        </p:spPr>
      </p:sp>
      <p:sp>
        <p:nvSpPr>
          <p:cNvPr id="31" name="Text 26"/>
          <p:cNvSpPr/>
          <p:nvPr/>
        </p:nvSpPr>
        <p:spPr>
          <a:xfrm>
            <a:off x="5289867" y="4072892"/>
            <a:ext cx="6614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F5A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Finance: 6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12800" y="6256021"/>
            <a:ext cx="449463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Vendor Due-Diligence Gate — real output from this run, not illustrative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4213D"/>
              </a:gs>
              <a:gs pos="100000">
                <a:srgbClr val="0F1A30"/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9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27764"/>
            <a:ext cx="981075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working system to production rollout</a:t>
            </a:r>
            <a:endParaRPr lang="en-US" sz="2800" dirty="0"/>
          </a:p>
        </p:txBody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741929"/>
            <a:ext cx="177800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7600" y="2724150"/>
            <a:ext cx="51087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to a live AWS account and provision the first compliance manager</a:t>
            </a:r>
            <a:endParaRPr lang="en-US" sz="1200" dirty="0"/>
          </a:p>
        </p:txBody>
      </p:sp>
      <p:pic>
        <p:nvPicPr>
          <p:cNvPr id="7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3056892"/>
            <a:ext cx="177800" cy="177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7600" y="3039114"/>
            <a:ext cx="40073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Wire escalation routing to a real channel — email or Slack</a:t>
            </a:r>
            <a:endParaRPr lang="en-US" sz="1200" dirty="0"/>
          </a:p>
        </p:txBody>
      </p:sp>
      <p:pic>
        <p:nvPicPr>
          <p:cNvPr id="9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371850"/>
            <a:ext cx="177800" cy="177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7600" y="3354071"/>
            <a:ext cx="63264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C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remaining regulatory questions and extend coverage beyond Barbados/Caribbean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815975" y="4758054"/>
            <a:ext cx="10560050" cy="1080770"/>
          </a:xfrm>
          <a:prstGeom prst="roundRect">
            <a:avLst>
              <a:gd name="adj" fmla="val 9107"/>
            </a:avLst>
          </a:prstGeom>
          <a:solidFill>
            <a:srgbClr val="1F2E52"/>
          </a:solidFill>
          <a:ln w="6350">
            <a:solidFill>
              <a:srgbClr val="2E3D6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22680" y="5013964"/>
            <a:ext cx="102450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FBFB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Deterministic rules where rules are enough. Human judgment where they aren't. A permanent record either way.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Due-Diligence Gate</dc:title>
  <dc:subject>PptxGenJS Presentation</dc:subject>
  <dc:creator>PptxGenJS</dc:creator>
  <cp:lastModifiedBy>PptxGenJS</cp:lastModifiedBy>
  <cp:revision>1</cp:revision>
  <dcterms:created xsi:type="dcterms:W3CDTF">2026-09-29T17:22:34Z</dcterms:created>
  <dcterms:modified xsi:type="dcterms:W3CDTF">2026-09-29T17:22:34Z</dcterms:modified>
</cp:coreProperties>
</file>